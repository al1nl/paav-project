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5" r:id="rId17"/>
    <p:sldId id="270" r:id="rId18"/>
    <p:sldId id="276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5521" autoAdjust="0"/>
  </p:normalViewPr>
  <p:slideViewPr>
    <p:cSldViewPr snapToGrid="0" snapToObjects="1">
      <p:cViewPr>
        <p:scale>
          <a:sx n="75" d="100"/>
          <a:sy n="75" d="100"/>
        </p:scale>
        <p:origin x="744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56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two static analyses built for this course's final project, sharing a common engine. Mention it's implemented in plain Python with no external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slide. Emphasize that neither analysis uses widening because both domains were specifically designed to have finite height for any fixed </a:t>
            </a:r>
            <a:r>
              <a:rPr lang="en-US"/>
              <a:t>program - </a:t>
            </a:r>
            <a:r>
              <a:rPr lang="en-US" dirty="0"/>
              <a:t>so Kleene iteration alone is guaranteed to terminate. This is a deliberate design choice, not 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Part One: the Parity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counterexample </a:t>
            </a:r>
            <a:r>
              <a:rPr lang="en-US"/>
              <a:t>slowly - </a:t>
            </a:r>
            <a:r>
              <a:rPr lang="en-US" dirty="0"/>
              <a:t>it's the whole justification for going relational. Point out that step 3, the per-variable join, is exactly where the information is lost: Even join Odd equals Top for both variables independently, even though the *relationship* i=j was preserved on both incoming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generator representation intuitively: think of it as a system of linear equations over bits, where bit i is the parity of variable i. Top means no equations at all; each equation removes one degree of freedom. Point at the diagram on the right to explain the flat-inside-a-cube geometric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of the four operations. The meet operation is the real workhorse - it's just Gaussian elimination, but framed as removing a basis vector and folding it into the ones that share the same constraint bit. Forget is simply adding a fully free unit vector back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transfer function table top to bottom. Spend a moment on the i:=j-1 row and explain the natural-number truncation issue in the callout box on the right - this is a case where the safe, sound choice is to lose precision rather than risk being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debugging story slide - the most interesting content for a review audience. For the left card, explain concretely: if I write i := i+1, and I forget i before reading j's value, but i equals j syntactically, I've just destroyed the information I needed. The fix borrows a scratch coordinate to preserve the old value temporarily. For the right card, give the parity(i)=parity(k) example out loud - it's the clearest way to convey why per-disjunct checking is incomplete but coset enumeration is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Parity with the soundness and termination arguments. Keep this brief - it's the formal capstone, not new content. The key phrase for termination is 'finite height without widening.'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Part Two: the Shape analysis. This is a custom domain, not textbook TVLA - explain why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the custom lightweight domain vs. full 3-valued logic: this language's grammar never talks about anonymous heap cells, only named program variables, so a full canonical abstraction domain would be overkill. Then walk through the four tables - nullity, eq, succ, reach - explaining what each cell means. Emphasize that reach being an outcome-SET (not just a boolean) is what lets you express things like 'reaches with unspecified parity'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safety properties checked at every mutating command. Note the 'may' semantics throughout - unknown information is always treated as a possible violation, never optimistically assumed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transfer function families. Spend the most time on x.n := y - the splice operation - and make sure to call out the overwrite-not-join callout box at the bottom, since that's connected to one of the bugs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 bugs found during testing, presented as war stories. For the aliasing-via-succ card, explicitly connect it back to the Parity i:=i+1 bug from Part One - same root cause (destroying information before reading it), different manifestation, different fix (per-edge scratch slots instead of one reused slot, because heap-node identity needs to remain valid indefinitely).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and matter-of-fact about the open limitation - this is a strength of the report, not a weakness to downplay. Explain that direct recomputation ruled out 'just needs more iterations' - it's a genuine fixed point, so the gap is in how the abstraction reasons about this specific aliasing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slide - don't read every bullet, just point out the shape of the two test suites (baseline / sanity check / negative test / stress test / contrast case) and note both share the same termination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submission layout so reviewers know where to find things. Reiterate the shared-engine design principle one more time before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Land on the four takeaways, then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59" y="1920240"/>
            <a:ext cx="9791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ANALYSIS AND VERIFICATION  ·  FINAL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59" y="2377440"/>
            <a:ext cx="107706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Analysis &amp; Shape Analysis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59" y="3520440"/>
            <a:ext cx="102810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Domains, Transfer Functions, and Correctness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6066" y="4159681"/>
            <a:ext cx="2154125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86165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relational abstract-interpretation analyses, sharing one CFG parser and worklist fixpoint engine - implemented in Python, stdlib only.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Analyses, One Shared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19272" cy="41605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common/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770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parser + a generic worklist fixpoint engine. No widening - both domains have finite height for any fixed program, so plain Kleene iteration always terminates.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319272" cy="41605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4736592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473659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9718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parity/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474720"/>
            <a:ext cx="2770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Parity analysis for the integer-program language (Sec. 1): tracks linear parity relationships between variables over GF(2).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284464" y="1874520"/>
            <a:ext cx="3319272" cy="41605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8604504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860450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58784" y="29718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shape/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58784" y="3474720"/>
            <a:ext cx="2770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relational Shape analysis for the acyclic/unshared linked-list language (Sec. 2): tracks nullity, equality, successor, and reachability.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91440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154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Analysis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parity domain over GF(2)ⁿ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Non-Relational Domain Isn't Enough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parity domain tracks each variable independently as one of {Even, Odd, ⊤, ⊥}. Tracing the project's own loop example exposes exactly where that fails: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04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loop head L3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53840" y="22860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i:=0; j:=0  →  i = Even, j = Even</a:t>
            </a:r>
            <a:endParaRPr lang="en-US" sz="1600" b="1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815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back-edge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53840" y="30632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i:=j+1; j:=i  →  contributes (Odd, Odd) into L3</a:t>
            </a:r>
            <a:endParaRPr lang="en-US" sz="1600" b="1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8587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Per-variable join at L3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53840" y="3840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⊔ Odd = ⊤   (computed independently for i and j)</a:t>
            </a:r>
            <a:endParaRPr lang="en-US" sz="1600" b="1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6360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 stabilizes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053840" y="46177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⊤, j = ⊤ - the fact "i and j are always equal" is lost</a:t>
            </a:r>
            <a:endParaRPr lang="en-US" sz="1600" b="1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domain has no way to record a relation between two variables, the given example - which the project explicitly asks us to verify - is a direct counterexample. We need a relational domain.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Parity Domain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an affine subspace of GF(2)ⁿ, </a:t>
            </a:r>
            <a:b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#variables - the solution set of a linear system Σ aᵢ·parity(vᵢ) = b (mod 2).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representation: ⊥, or a pair (p, B) - a base point p and a reduced, linearly-independent basis B of free directions (kept canonical via Gaussian elimination over GF(2)).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63931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 B = {e₁, …, eₙ} - full rank, no constraints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422452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5486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⊥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20624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distinguished sentinel for an inconsistent system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79145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5486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77316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set = { p ⊕ (xor of any subset of B) }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452360" y="155448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77266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i  ↔  parity of variable 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Even    1 = Odd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0" y="2606040"/>
            <a:ext cx="3520440" cy="2103120"/>
          </a:xfrm>
          <a:prstGeom prst="rect">
            <a:avLst/>
          </a:prstGeom>
          <a:solidFill>
            <a:srgbClr val="141A44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8138160" y="3977640"/>
            <a:ext cx="30175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868680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⊕ span(B))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800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{0,1}ⁿ  (all parity vectors)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5257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B ↓  as joins weaken the system - this monotone shrinkage is what gives the domain finite height.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Lattice Operations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4688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w/ hyperplane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c·x = d</a:t>
            </a:r>
            <a:endParaRPr lang="en-US" sz="2000" b="1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655064"/>
            <a:ext cx="8183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every assignment &amp; assume. Gaussian elimination: find generator v* with c·v*=1; </a:t>
            </a:r>
            <a:b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it into every other generator sharing that property, remove it, and adjust p if c·p ≠ d.</a:t>
            </a:r>
            <a:b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such v*? Check c·p=d directly, or → ⊥.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24688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85800" y="281635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variable i</a:t>
            </a:r>
            <a:endParaRPr lang="en-US" sz="2000" b="1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871216"/>
            <a:ext cx="8183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before every assignment to i. Existentially quantify i out: add the unit vector eᵢ to B (if not already spanned).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24688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85800" y="403250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 ⊔</a:t>
            </a:r>
            <a:endParaRPr lang="en-US" sz="20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4087368"/>
            <a:ext cx="8183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hull of the union of two flats: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(p₁,B₁) ⊔ (p₂,B₂) = (p₁, reduce(B₁ ∪ B₂ ∪ {p₁⊕p₂})).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548640" y="5248656"/>
            <a:ext cx="24688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685800" y="5248656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⊑</a:t>
            </a:r>
            <a:endParaRPr lang="en-US" sz="2000" b="1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5303520"/>
            <a:ext cx="8183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(p₁,B₁) ⊑ (p₂,B₂)  iff  p₁⊕p₂ ∈ span(B₂)  and  B₁ ⊆ span(B₂).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Functions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249386"/>
              </p:ext>
            </p:extLst>
          </p:nvPr>
        </p:nvGraphicFramePr>
        <p:xfrm>
          <a:off x="548640" y="1554480"/>
          <a:ext cx="6766560" cy="3950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:= 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i;  meet eᵢ·x = (K mod 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:= 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:= j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i;  meet (eᵢ⊕eⱼ)·x =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:= j+1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i;  meet (eᵢ⊕eⱼ)·x =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:= j-1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 i only (see note below)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assume(i=j)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 (eᵢ⊕eⱼ)·x =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assume(i≠j)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 - no sound refinement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assume(FALSE)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54480"/>
            <a:ext cx="4023360" cy="44348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 txBox="1"/>
          <p:nvPr/>
        </p:nvSpPr>
        <p:spPr>
          <a:xfrm>
            <a:off x="7818120" y="1737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:= j−1 is deliberately conservative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3317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0−1 = 0 (natural-number truncation), "flip parity" is only correct when j ≠ 0 - which parity alone can't establish. We forget i entirely rather than risk unsoundness.</a:t>
            </a:r>
            <a:endParaRPr lang="en-US" dirty="0"/>
          </a:p>
        </p:txBody>
      </p:sp>
      <p:sp>
        <p:nvSpPr>
          <p:cNvPr id="4" name="Text 5"/>
          <p:cNvSpPr txBox="1"/>
          <p:nvPr/>
        </p:nvSpPr>
        <p:spPr>
          <a:xfrm>
            <a:off x="7818120" y="3703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principle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411480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computes the strongest sound linear consequence - or explicitly adds nothing when no sound constraint exists. Dropping information is always safe.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Correctness Issues, Found by Testing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ALIASING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:= i + 1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Naively: "forget i, then meet (eᵢ⊕eⱼ, flip)" is unsound when i = j syntactically - forgetting i first destroys the value eⱼ needs, since eⱼ = eᵢ.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493776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one reserved scratch coordinate. Snapshot j into it, forget i, meet i = tmp(±1), then forget the scratch slot. Correct whether or not i = j.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44768" y="16002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419088" y="1874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419088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CHECKING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2651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Disjunct-wise entailment is incomplete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3246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state guarantees parity(i)=parity(k) but that shared parity is otherwise free, (EVEN i EVEN k) ∨ (ODD i ODD k) is a tautology - yet neither disjunct is individually entailed.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19088" y="4892040"/>
            <a:ext cx="493776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6419088" y="50292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State is a coset of size 2^|B|, |B| always small. Enumerate the coset exactly and evaluate the ORC formula pointwise - sound AND complete, and cheap.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Soundness and Termination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Soundness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rule computes the strongest linear consequence of the command's exact semantics (assignments, assume on equalities/constants), or explicitly adds no constraint when none is sound (i:=j-1, assume on disequality). Dropping information is always safe. New: also verified empirically - a property-based fuzz test found no monotonicity violations across all 16 transfer-function variants and ~500,000 random state pairs.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565392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656539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6060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linear-equation systems over n boolean unknowns is finite (≤2ⁿ affine subspaces). Join only weakens constraints, so rank is non-increasing along any join chain at a fixed node - a finite-height lattice per CFG node. Finite CFG × finite-height lattice × monotone transfer ⇒ the worklist fixpoint terminates without widening.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91440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154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Analysis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relational domain for acyclic, unshared linked lists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3.1–3.2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Choice &amp; State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TVLA-style 3-valued logic? This language never refers to anonymous heap cells - every predicate (LS, NOLS, ODD, EVEN, equality, dereference-equality) names program variables directly. A full canonical-abstraction domain is strictly more general than needed, with no precision benefit here.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10312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nullity[x]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92608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NULL, NONNULL, ⊤ }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81304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210312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548640" y="381304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eq[x][y]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81304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T, F, unknown } - combined with nullity at query time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70001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210312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548640" y="470001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succ[x]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470001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∪ {NULL, unknown} - exact fact when present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58698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548640" y="5586984"/>
            <a:ext cx="2103120" cy="74980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548640" y="558698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reach[x][y]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5586984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outcome-set over {NO,ODD,EVEN}: singletons, EITHER={ODD,EVEN}, ⊤={NO,ODD,EVEN}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as an outcome-set (not a plain may/must flag) makes patterns like assert(ODD x y)(EVEN x y) - "x reaches y, parity unspecified" - checkable precisely.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Properties Checked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19272" cy="420624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Safety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706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x.n read/write requires nullity[x] = NONNULL proven; otherwise flagged. May-semantics: unknown nullity is a possible violation, never silently assumed safe.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319272" cy="420624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4736592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473659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92608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Acyclicity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429000"/>
            <a:ext cx="27706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x.n := y, flagged if eq[x][y] = T, or reach[y][x] is not NO (definitely or possibly already reaches back).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284464" y="1828800"/>
            <a:ext cx="3319272" cy="420624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8604504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860450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558784" y="292608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58784" y="3429000"/>
            <a:ext cx="27706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x.n := y, flagged if some other tracked variable z (not known-equal to x) already has succ[z] equal to y.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Functions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:= NULL / new / 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609344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or copy the full row/column for x (nullity, eq, reach, succ).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265176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8580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:= y.n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43784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y proven nonnull. Known successor w → x aliases w. Known NULL → x is NULL.</a:t>
            </a:r>
            <a:b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Otherwise x is materialized fresh: reach[z][x] := shift(reach[z][y]) for all z; succ[y] := x.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265176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85800" y="4023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x.n := 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078224"/>
            <a:ext cx="8001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safety checks: succ[x] := y, </a:t>
            </a:r>
            <a:b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splice reachability - for all z reaching x and w reached from y: reach[z][w] := combine(shift(reach[z][x]), reach[y][w]).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splice overwrites, not joins with, the old reach[z][w]: given assumption 2.1.3 (field freshly NULL before write) plus the unshared-list invariant, the old value for exactly these pairs is provably NO.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39" y="365760"/>
            <a:ext cx="957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5889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Correctness Issues, Found by Testing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39" y="1691640"/>
            <a:ext cx="3476689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777239" y="1920240"/>
            <a:ext cx="1628201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777239" y="1920240"/>
            <a:ext cx="16282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29978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state: ⊤ vs NULL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99780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⊤ as the entry state (instead of assumption 2.1.2's "all vars start NULL") let a new-node's freshness fact attach to still-⊤ variables; that stale non-reachability persisted once they were later assigned - the bug initially made the main example vacuously "verified."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16551" y="1691640"/>
            <a:ext cx="3476689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Shape 8"/>
          <p:cNvSpPr/>
          <p:nvPr/>
        </p:nvSpPr>
        <p:spPr>
          <a:xfrm>
            <a:off x="4645151" y="1920240"/>
            <a:ext cx="1628201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4645151" y="1920240"/>
            <a:ext cx="16282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404872"/>
            <a:ext cx="29978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Splice must overwrite, not join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154680"/>
            <a:ext cx="299780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joined the new reach facts with the old ones, silently turning e.g. NO ⊔ EVEN into ⊤ at every pointer-linking step - found by manually tracing reachability against hand-computed expectations.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284463" y="1691640"/>
            <a:ext cx="3476689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Shape 13"/>
          <p:cNvSpPr/>
          <p:nvPr/>
        </p:nvSpPr>
        <p:spPr>
          <a:xfrm>
            <a:off x="8513063" y="1920240"/>
            <a:ext cx="1628201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8513063" y="1920240"/>
            <a:ext cx="16282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2404872"/>
            <a:ext cx="29978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Aliasing via succ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3154680"/>
            <a:ext cx="299780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t.n := x; x := t (used to prepend a node) makes succ[t] self-referential if x's slot is overwritten directly. Fix: each overwriting edge gets its own permanent scratch slot (not round-robin - old content may still be a live heap node).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1365991" y="6400800"/>
            <a:ext cx="47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2072" y="338328"/>
            <a:ext cx="12052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BUG · FOUND ONLY BY FUZZING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22072" y="496316"/>
            <a:ext cx="129027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assume_eq: A Real Soundness Bug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0761" y="1691640"/>
            <a:ext cx="4375030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30024" y="1920240"/>
            <a:ext cx="2048912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530024" y="1920240"/>
            <a:ext cx="204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2072" y="2404872"/>
            <a:ext cx="3772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2072" y="3154680"/>
            <a:ext cx="37724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assume(x == y) derives x.n == y.n. Three branches recorded that by directly overwriting a table cell, without checking whether it contradicted an already-proven fact. If x.n is a node independently known non-NULL, and y.n is known NULL, the branch is actually dead - but the old code fabricated "that node is NULL" instead of returning ⊥.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88673" y="1691640"/>
            <a:ext cx="4375030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Shape 8"/>
          <p:cNvSpPr/>
          <p:nvPr/>
        </p:nvSpPr>
        <p:spPr>
          <a:xfrm>
            <a:off x="4397936" y="1920240"/>
            <a:ext cx="2048912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4397936" y="1920240"/>
            <a:ext cx="204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89984" y="2404872"/>
            <a:ext cx="3772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039328" y="3154680"/>
            <a:ext cx="3566601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as a genuine monotonicity violation: a MORE-informed sibling state produced a live, self-contradictory result, while a LESS-informed sibling correctly stayed unaffected. Not found by tracing the given example - no example program happens to construct this exact fact combination.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756585" y="1691640"/>
            <a:ext cx="4375030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Shape 13"/>
          <p:cNvSpPr/>
          <p:nvPr/>
        </p:nvSpPr>
        <p:spPr>
          <a:xfrm>
            <a:off x="8265848" y="1920240"/>
            <a:ext cx="2048912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8265848" y="1920240"/>
            <a:ext cx="204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57896" y="2404872"/>
            <a:ext cx="3772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+ verification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57896" y="3154680"/>
            <a:ext cx="37724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now checks the old fact first and returns ⊥ on contradiction. The isolated fuzz check that found it now passes clean (~430k pairs); 3 previously never-completed checks now run to completion, clean; all 57 unit tests still pass; 4 new permanent regression tests added.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1293281" y="6400800"/>
            <a:ext cx="602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0519" y="374396"/>
            <a:ext cx="112165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3.8 · GROUND-TRUTH FUZZING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50519" y="638556"/>
            <a:ext cx="135720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More Bugs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1919" y="1691640"/>
            <a:ext cx="4071601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50519" y="1920240"/>
            <a:ext cx="1906811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350519" y="1920240"/>
            <a:ext cx="19068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0519" y="2404872"/>
            <a:ext cx="3510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0519" y="3154680"/>
            <a:ext cx="351077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 fuzzing only checks internal consistency. A second, independent fuzzer runs every random small program TWICE - once concretely against a simulated heap, once abstractly - and checks after every command that the abstract state’s claims are actually true of the concrete run.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89831" y="1691640"/>
            <a:ext cx="4071601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Shape 8"/>
          <p:cNvSpPr/>
          <p:nvPr/>
        </p:nvSpPr>
        <p:spPr>
          <a:xfrm>
            <a:off x="4218431" y="1920240"/>
            <a:ext cx="1906811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4218431" y="1920240"/>
            <a:ext cx="19068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18431" y="2404872"/>
            <a:ext cx="3510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found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18431" y="3154680"/>
            <a:ext cx="351077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real bugs in the deref/field-write logic: treating a hypothetical successor as confirmed non-NULL; a “no route exists” non-fact overriding a correct value; five aliasing blind spots (checking w != x instead of “is w a known alias of x”); and one self-loop asserted as possible when it cannot exist.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857743" y="1691640"/>
            <a:ext cx="4071601" cy="44805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Shape 13"/>
          <p:cNvSpPr/>
          <p:nvPr/>
        </p:nvSpPr>
        <p:spPr>
          <a:xfrm>
            <a:off x="8086343" y="1920240"/>
            <a:ext cx="1906811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8086343" y="1920240"/>
            <a:ext cx="19068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86343" y="2404872"/>
            <a:ext cx="3510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86343" y="3154680"/>
            <a:ext cx="351077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fixed and re-verified. Every touched transfer function re-fuzzed for monotonicity to completion (1.5M+ pairs, clean); the differential fuzzer run across many configurations (hundreds of thousands of commands, clean); none of the eight fixes changed output on any required test file.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0939271" y="6400800"/>
            <a:ext cx="560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Loop-Carried Aliasing: A Bounded Disjunctive Extension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6032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:= y.n inside a loop merges two branches into one state at the loop header, losing which branch a fact came from. DisjunctiveShapeState instead carries up to 4 alternative states at once: each command transfers every disjunct independently, a contradicted disjunct is simply dropped, and exceeding the cap falls back to an ordinary, sound join - never an unsound result.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611112" y="19659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661111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296912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5603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assertions on the given example now verify, with zero safety warnings - the three POSSIBLE SHARING/CYCLE warnings were false positives once branch identity survives the loop. The real bugs in the sharing- and cycle-violation variants are still caught, now with CERTAINTY rather than only “possible.”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Verification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the pattern, not the literal file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6032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loop-unrolling check ground-truths the hard PATTERN - two lists built together by a nondeterministic loop - for trip counts 0–6. It does not unroll the full given example (which also has two traversal loops and a linking step). That gap is closed by hand: tracing the given example’s own concrete semantics directly.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611112" y="19659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661111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296912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has a fixed capacity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5603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DisjunctiveShapeState tracks at most 4 alternative states at once. Exceeding the cap always falls back to an ordinary, sound join - never an unsound result - but a program needing more than 4 live alternatives at once will progressively lose the same precision this section recovers. The given example stays within this bound; nothing guarantees a wider one always will.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2.6, 3.9 &amp; 3.11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Programs &amp; Results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 ·  parity/interesting-tests/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Given example - baseline; all asserts verify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2374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Independent-variable tautology - sanity check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358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Negative test - unverifiable case correctly flagged (not a false positive)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478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Multi-hop 3-variable chain - exposed the disjunct completeness gap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5993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Double-increment loop - contrast case for non-relational domains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45352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 ·  shape/interesting-tests/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2011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Given example - all 9 assertions verify, 0 safety warnings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252374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Sharing violation (PDF variant #1) - flagged with certainty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30358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Cycle violation (PDF variant #2) - flagged with certainty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35478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Merge/aliasing (PDF variant #3) - added assert correctly verified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405993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Null-dereference negative test - correctly flagged as unsafe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548640" y="4992625"/>
            <a:ext cx="10919816" cy="813812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skip widening entirely: every domain here has finite height for a fixed program, so Kleene iteration on the worklist provably terminates on its own.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Structure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impl/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956816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common/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3134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CFG parser + fixpoint engine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702052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parity/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0861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language parser, analysis, 5 tests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472712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shape/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7993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language parser, analysis, 5 tests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46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README.txt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569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report.pdf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5059324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document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616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slides.pptx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827420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 for the review meeting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840" y="173736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8138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2606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share a common CFG parser and generic worklist fixpoint engine - only the abstract domain, transfer functions, and assert-checker are analysis-specific.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297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Stdlib-only Python; no external solver or widening machinery required.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Domains, Verified by Testing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215923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 txBox="1"/>
          <p:nvPr/>
        </p:nvSpPr>
        <p:spPr>
          <a:xfrm>
            <a:off x="822960" y="221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42771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structure was necessary in both domains - per-variable facts alone provably lose the invariants each language's examples require.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130323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822960" y="31303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57171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bug - aliased assignment, wrong join vs. overwrite, entry-state unsoundness, an assume_eq contradiction (found only by fuzzing), and eight more caught only by ground-truth differential fuzzing - was caught by concrete counterexamples, not inspection alone.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044723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822960" y="40447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971571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Finite-height domains + monotone transfer functions ⇒ plain worklist iteration terminates soundly, with no widening needed anywhere.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959123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822960" y="49591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885971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honestly-reported scope limit: the bounded disjunctive extension that gets all 9 shape asserts verifying tracks at most 4 branches at once - sound beyond that cap, but not precise for free.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806440"/>
            <a:ext cx="306832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3766</Words>
  <Application>Microsoft Office PowerPoint</Application>
  <PresentationFormat>Widescreen</PresentationFormat>
  <Paragraphs>286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Lior Pernik</cp:lastModifiedBy>
  <cp:revision>6</cp:revision>
  <dcterms:created xsi:type="dcterms:W3CDTF">2026-09-03T07:48:14Z</dcterms:created>
  <dcterms:modified xsi:type="dcterms:W3CDTF">2026-09-13T12:24:34Z</dcterms:modified>
</cp:coreProperties>
</file>